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presProps.xml" ContentType="application/vnd.openxmlformats-officedocument.presentationml.presProps+xml"/>
  <Override PartName="/ppt/media/image13.svg" ContentType="image/svg"/>
  <Override PartName="/ppt/media/image18.png" ContentType="image/png"/>
  <Override PartName="/ppt/media/image20.png" ContentType="image/png"/>
  <Override PartName="/ppt/media/image12.png" ContentType="image/png"/>
  <Override PartName="/ppt/media/image11.png" ContentType="image/png"/>
  <Override PartName="/ppt/media/image8.png" ContentType="image/png"/>
  <Override PartName="/ppt/media/image7.png" ContentType="image/png"/>
  <Override PartName="/ppt/media/image16.png" ContentType="image/png"/>
  <Override PartName="/ppt/media/image24.png" ContentType="image/png"/>
  <Override PartName="/ppt/media/image22.png" ContentType="image/png"/>
  <Override PartName="/ppt/media/image3.png" ContentType="image/png"/>
  <Override PartName="/ppt/media/image2.png" ContentType="image/png"/>
  <Override PartName="/ppt/media/image23.png" ContentType="image/png"/>
  <Override PartName="/ppt/media/image17.svg" ContentType="image/svg"/>
  <Override PartName="/ppt/media/image15.svg" ContentType="image/svg"/>
  <Override PartName="/ppt/media/image4.png" ContentType="image/png"/>
  <Override PartName="/ppt/media/image14.png" ContentType="image/png"/>
  <Override PartName="/ppt/media/image5.png" ContentType="image/png"/>
  <Override PartName="/ppt/media/image9.png" ContentType="image/png"/>
  <Override PartName="/ppt/media/image6.png" ContentType="image/png"/>
  <Override PartName="/ppt/media/image1.png" ContentType="image/png"/>
  <Override PartName="/ppt/media/image21.svg" ContentType="image/svg"/>
  <Override PartName="/ppt/media/image19.svg" ContentType="image/svg"/>
  <Override PartName="/ppt/media/image10.png" ContentType="image/png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fonts/Font_1_Open_Sans_Bold.fntdata" ContentType="application/x-fontdata"/>
  <Override PartName="/ppt/fonts/Font_2_Tahoma_Regular.fntdata" ContentType="application/x-fontdata"/>
  <Override PartName="/ppt/fonts/Font_3_Tahoma_Bold.fntdata" ContentType="application/x-fontdata"/>
  <Override PartName="/ppt/fonts/Font_4_FreeSans_Regular.fntdata" ContentType="application/x-fontdata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10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4.xml.rels" ContentType="application/vnd.openxmlformats-package.relationships+xml"/>
  <Override PartName="/ppt/notesSlides/_rels/notesSlide2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4630400" cy="8229600"/>
  <p:notesSz cx="8229600" cy="14630400"/>
  <p:embeddedFontLst>
    <p:embeddedFont>
      <p:font typeface="Unbounded Bold"/>
    </p:embeddedFont>
    <p:embeddedFont>
      <p:font typeface="Open Sans"/>
      <p:bold r:id="rId14"/>
    </p:embeddedFont>
    <p:embeddedFont>
      <p:font typeface="Calibri Light"/>
    </p:embeddedFont>
    <p:embeddedFont>
      <p:font typeface="Tahoma"/>
      <p:regular r:id="rId15"/>
      <p:bold r:id="rId16"/>
    </p:embeddedFont>
    <p:embeddedFont>
      <p:font typeface="FreeSans"/>
      <p:regular r:id="rId17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font" Target="fonts/Font_1_Open_Sans_Bold.fntdata"/><Relationship Id="rId15" Type="http://schemas.openxmlformats.org/officeDocument/2006/relationships/font" Target="fonts/Font_2_Tahoma_Regular.fntdata"/><Relationship Id="rId16" Type="http://schemas.openxmlformats.org/officeDocument/2006/relationships/font" Target="fonts/Font_3_Tahoma_Bold.fntdata"/><Relationship Id="rId17" Type="http://schemas.openxmlformats.org/officeDocument/2006/relationships/font" Target="fonts/Font_4_FreeSans_Regular.fntdata"/><Relationship Id="rId1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move the slide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0225E5C2-4FD7-4C46-B7F8-FD403C6D37B4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28E8074-0EA1-422C-AEE8-FD1C3340838F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33ED4E0-827C-466B-8E50-E6D0E2812836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EBEF5C9-D5F9-461E-A4B2-4B57604A947D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0ACEFFB-06D8-4416-9A37-C2197E79EF50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983647C-823C-43ED-AE14-3BACC03A06F3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3CFA1DB-E638-4A8A-9822-8E7E46B16C8D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100D943-AE4A-4D41-8502-01EE79FF6BE3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04264AE-CABB-4F36-8325-090FD4E1E54D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D8937E1-0DB7-438F-A14C-BE334B11F66F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1AB037E-6EC6-4CB2-9C4A-E40D6FBDB31C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d6f5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the title text format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d6f5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d6f5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the title text format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d6f5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the title text format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d6f5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the title text format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d6f5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the title text format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d6f5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2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the title text format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d6f5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7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the title text format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d6f5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2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the title text format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d6f5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7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the title text format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svg"/><Relationship Id="rId3" Type="http://schemas.openxmlformats.org/officeDocument/2006/relationships/image" Target="../media/image14.png"/><Relationship Id="rId4" Type="http://schemas.openxmlformats.org/officeDocument/2006/relationships/image" Target="../media/image15.svg"/><Relationship Id="rId5" Type="http://schemas.openxmlformats.org/officeDocument/2006/relationships/image" Target="../media/image16.png"/><Relationship Id="rId6" Type="http://schemas.openxmlformats.org/officeDocument/2006/relationships/image" Target="../media/image17.svg"/><Relationship Id="rId7" Type="http://schemas.openxmlformats.org/officeDocument/2006/relationships/image" Target="../media/image18.png"/><Relationship Id="rId8" Type="http://schemas.openxmlformats.org/officeDocument/2006/relationships/image" Target="../media/image19.svg"/><Relationship Id="rId9" Type="http://schemas.openxmlformats.org/officeDocument/2006/relationships/image" Target="../media/image20.png"/><Relationship Id="rId10" Type="http://schemas.openxmlformats.org/officeDocument/2006/relationships/image" Target="../media/image21.svg"/><Relationship Id="rId11" Type="http://schemas.openxmlformats.org/officeDocument/2006/relationships/image" Target="../media/image22.pn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24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0"/>
          <p:cNvSpPr/>
          <p:nvPr/>
        </p:nvSpPr>
        <p:spPr>
          <a:xfrm>
            <a:off x="0" y="0"/>
            <a:ext cx="5486040" cy="8229240"/>
          </a:xfrm>
          <a:prstGeom prst="rect">
            <a:avLst/>
          </a:prstGeom>
          <a:solidFill>
            <a:srgbClr val="dfdf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1"/>
          <p:cNvSpPr/>
          <p:nvPr/>
        </p:nvSpPr>
        <p:spPr>
          <a:xfrm>
            <a:off x="6400800" y="1783080"/>
            <a:ext cx="7556040" cy="14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5550"/>
              </a:lnSpc>
              <a:tabLst>
                <a:tab algn="l" pos="0"/>
              </a:tabLst>
            </a:pPr>
            <a:r>
              <a:rPr b="1" lang="en-US" sz="4450" strike="noStrike" u="none">
                <a:solidFill>
                  <a:srgbClr val="333f70"/>
                </a:solidFill>
                <a:effectLst/>
                <a:uFillTx/>
                <a:latin typeface="Unbounded Bold"/>
                <a:ea typeface="Unbounded Bold"/>
              </a:rPr>
              <a:t>Network Security Analysis</a:t>
            </a:r>
            <a:endParaRPr b="0" lang="en-US" sz="4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2"/>
          <p:cNvSpPr/>
          <p:nvPr/>
        </p:nvSpPr>
        <p:spPr>
          <a:xfrm>
            <a:off x="6400800" y="4114800"/>
            <a:ext cx="7556040" cy="72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333f70"/>
                </a:solidFill>
                <a:effectLst/>
                <a:uFillTx/>
                <a:latin typeface="Open Sans"/>
                <a:ea typeface="Open Sans"/>
              </a:rPr>
              <a:t>UNSW_NB15 Dataset Findings: Understanding Cyber Threats in Modern Networks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9" name="" descr=""/>
          <p:cNvPicPr/>
          <p:nvPr/>
        </p:nvPicPr>
        <p:blipFill>
          <a:blip r:embed="rId1"/>
          <a:stretch/>
        </p:blipFill>
        <p:spPr>
          <a:xfrm>
            <a:off x="360" y="0"/>
            <a:ext cx="5486040" cy="822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" name="Text 22"/>
          <p:cNvSpPr/>
          <p:nvPr/>
        </p:nvSpPr>
        <p:spPr>
          <a:xfrm>
            <a:off x="6400800" y="6400800"/>
            <a:ext cx="7556040" cy="72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r>
              <a:rPr b="0" lang="en-US" sz="1750" strike="noStrike" u="none">
                <a:solidFill>
                  <a:srgbClr val="333f70"/>
                </a:solidFill>
                <a:effectLst/>
                <a:uFillTx/>
                <a:latin typeface="Open Sans"/>
                <a:ea typeface="Open Sans"/>
              </a:rPr>
              <a:t>Presented By: Christopher Mbuthia</a:t>
            </a:r>
            <a:endParaRPr b="0" lang="en-US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 0"/>
          <p:cNvSpPr/>
          <p:nvPr/>
        </p:nvSpPr>
        <p:spPr>
          <a:xfrm>
            <a:off x="5958360" y="370800"/>
            <a:ext cx="7446240" cy="42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3300"/>
              </a:lnSpc>
              <a:tabLst>
                <a:tab algn="l" pos="0"/>
              </a:tabLst>
            </a:pPr>
            <a:r>
              <a:rPr b="1" lang="en-US" sz="2650" strike="noStrike" u="none">
                <a:solidFill>
                  <a:srgbClr val="333f70"/>
                </a:solidFill>
                <a:effectLst/>
                <a:uFillTx/>
                <a:latin typeface="Unbounded Bold"/>
                <a:ea typeface="Unbounded Bold"/>
              </a:rPr>
              <a:t>The Big Picture: Traffic Distribution</a:t>
            </a:r>
            <a:endParaRPr b="0" lang="en-US" sz="2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1"/>
          <p:cNvSpPr/>
          <p:nvPr/>
        </p:nvSpPr>
        <p:spPr>
          <a:xfrm>
            <a:off x="5958360" y="994320"/>
            <a:ext cx="4032360" cy="1007640"/>
          </a:xfrm>
          <a:prstGeom prst="roundRect">
            <a:avLst>
              <a:gd name="adj" fmla="val 5619"/>
            </a:avLst>
          </a:prstGeom>
          <a:solidFill>
            <a:srgbClr val="d6f5ee"/>
          </a:solidFill>
          <a:ln w="7620">
            <a:solidFill>
              <a:srgbClr val="bcdb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2"/>
          <p:cNvSpPr/>
          <p:nvPr/>
        </p:nvSpPr>
        <p:spPr>
          <a:xfrm>
            <a:off x="6100560" y="1136520"/>
            <a:ext cx="1685160" cy="21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65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333f70"/>
                </a:solidFill>
                <a:effectLst/>
                <a:uFillTx/>
                <a:latin typeface="Unbounded Bold"/>
                <a:ea typeface="Unbounded Bold"/>
              </a:rPr>
              <a:t>Key Finding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3"/>
          <p:cNvSpPr/>
          <p:nvPr/>
        </p:nvSpPr>
        <p:spPr>
          <a:xfrm>
            <a:off x="6100560" y="1428120"/>
            <a:ext cx="374760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165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333f70"/>
                </a:solidFill>
                <a:effectLst/>
                <a:uFillTx/>
                <a:latin typeface="Open Sans"/>
                <a:ea typeface="Open Sans"/>
              </a:rPr>
              <a:t>More than half of all network traffic analyzed was malicious, highlighting constant threats.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4"/>
          <p:cNvSpPr/>
          <p:nvPr/>
        </p:nvSpPr>
        <p:spPr>
          <a:xfrm>
            <a:off x="10125720" y="994320"/>
            <a:ext cx="4032360" cy="1007640"/>
          </a:xfrm>
          <a:prstGeom prst="roundRect">
            <a:avLst>
              <a:gd name="adj" fmla="val 5619"/>
            </a:avLst>
          </a:prstGeom>
          <a:solidFill>
            <a:srgbClr val="d6f5ee"/>
          </a:solidFill>
          <a:ln w="7620">
            <a:solidFill>
              <a:srgbClr val="bcdb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5"/>
          <p:cNvSpPr/>
          <p:nvPr/>
        </p:nvSpPr>
        <p:spPr>
          <a:xfrm>
            <a:off x="10268280" y="1136520"/>
            <a:ext cx="1685160" cy="21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65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333f70"/>
                </a:solidFill>
                <a:effectLst/>
                <a:uFillTx/>
                <a:latin typeface="Unbounded Bold"/>
                <a:ea typeface="Unbounded Bold"/>
              </a:rPr>
              <a:t>Normal Traffic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6"/>
          <p:cNvSpPr/>
          <p:nvPr/>
        </p:nvSpPr>
        <p:spPr>
          <a:xfrm>
            <a:off x="10268280" y="1428120"/>
            <a:ext cx="3747600" cy="21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65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333f70"/>
                </a:solidFill>
                <a:effectLst/>
                <a:uFillTx/>
                <a:latin typeface="Open Sans"/>
                <a:ea typeface="Open Sans"/>
              </a:rPr>
              <a:t>44.9%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7"/>
          <p:cNvSpPr/>
          <p:nvPr/>
        </p:nvSpPr>
        <p:spPr>
          <a:xfrm>
            <a:off x="5958360" y="2136960"/>
            <a:ext cx="8200080" cy="791640"/>
          </a:xfrm>
          <a:prstGeom prst="roundRect">
            <a:avLst>
              <a:gd name="adj" fmla="val 7150"/>
            </a:avLst>
          </a:prstGeom>
          <a:solidFill>
            <a:srgbClr val="d6f5ee"/>
          </a:solidFill>
          <a:ln w="7620">
            <a:solidFill>
              <a:srgbClr val="bcdb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8"/>
          <p:cNvSpPr/>
          <p:nvPr/>
        </p:nvSpPr>
        <p:spPr>
          <a:xfrm>
            <a:off x="6100560" y="2279160"/>
            <a:ext cx="1685160" cy="21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65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333f70"/>
                </a:solidFill>
                <a:effectLst/>
                <a:uFillTx/>
                <a:latin typeface="Unbounded Bold"/>
                <a:ea typeface="Unbounded Bold"/>
              </a:rPr>
              <a:t>Attack Traffic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9"/>
          <p:cNvSpPr/>
          <p:nvPr/>
        </p:nvSpPr>
        <p:spPr>
          <a:xfrm>
            <a:off x="6100560" y="2570760"/>
            <a:ext cx="7915320" cy="21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65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333f70"/>
                </a:solidFill>
                <a:effectLst/>
                <a:uFillTx/>
                <a:latin typeface="Open Sans"/>
                <a:ea typeface="Open Sans"/>
              </a:rPr>
              <a:t>55.1%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1" name="" descr=""/>
          <p:cNvPicPr/>
          <p:nvPr/>
        </p:nvPicPr>
        <p:blipFill>
          <a:blip r:embed="rId1"/>
          <a:stretch/>
        </p:blipFill>
        <p:spPr>
          <a:xfrm>
            <a:off x="0" y="0"/>
            <a:ext cx="5661000" cy="8229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2" name="" descr=""/>
          <p:cNvPicPr/>
          <p:nvPr/>
        </p:nvPicPr>
        <p:blipFill>
          <a:blip r:embed="rId2"/>
          <a:stretch/>
        </p:blipFill>
        <p:spPr>
          <a:xfrm>
            <a:off x="6058080" y="3200400"/>
            <a:ext cx="4914720" cy="4781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 0"/>
          <p:cNvSpPr/>
          <p:nvPr/>
        </p:nvSpPr>
        <p:spPr>
          <a:xfrm>
            <a:off x="4114800" y="103320"/>
            <a:ext cx="521928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333f70"/>
                </a:solidFill>
                <a:effectLst/>
                <a:uFillTx/>
                <a:latin typeface="Unbounded Bold"/>
                <a:ea typeface="Unbounded Bold"/>
              </a:rPr>
              <a:t>Attack Category Distribution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1"/>
          <p:cNvSpPr/>
          <p:nvPr/>
        </p:nvSpPr>
        <p:spPr>
          <a:xfrm>
            <a:off x="396720" y="711360"/>
            <a:ext cx="4026600" cy="21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65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333f70"/>
                </a:solidFill>
                <a:effectLst/>
                <a:uFillTx/>
                <a:latin typeface="Unbounded Bold"/>
                <a:ea typeface="Unbounded Bold"/>
              </a:rPr>
              <a:t>Breaking Down the Threat Landscape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2"/>
          <p:cNvSpPr/>
          <p:nvPr/>
        </p:nvSpPr>
        <p:spPr>
          <a:xfrm>
            <a:off x="396720" y="1094040"/>
            <a:ext cx="4536360" cy="683280"/>
          </a:xfrm>
          <a:prstGeom prst="roundRect">
            <a:avLst>
              <a:gd name="adj" fmla="val 10698"/>
            </a:avLst>
          </a:prstGeom>
          <a:solidFill>
            <a:srgbClr val="ffffff"/>
          </a:solidFill>
          <a:ln w="15240">
            <a:solidFill>
              <a:srgbClr val="bcdb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3"/>
          <p:cNvSpPr/>
          <p:nvPr/>
        </p:nvSpPr>
        <p:spPr>
          <a:xfrm>
            <a:off x="381600" y="1094040"/>
            <a:ext cx="60480" cy="683280"/>
          </a:xfrm>
          <a:prstGeom prst="roundRect">
            <a:avLst>
              <a:gd name="adj" fmla="val 78139"/>
            </a:avLst>
          </a:prstGeom>
          <a:solidFill>
            <a:srgbClr val="26a6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4"/>
          <p:cNvSpPr/>
          <p:nvPr/>
        </p:nvSpPr>
        <p:spPr>
          <a:xfrm>
            <a:off x="571320" y="1222920"/>
            <a:ext cx="1443600" cy="17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349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333f70"/>
                </a:solidFill>
                <a:effectLst/>
                <a:uFillTx/>
                <a:latin typeface="Unbounded Bold"/>
                <a:ea typeface="Unbounded Bold"/>
              </a:rPr>
              <a:t>Generic Attacks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5"/>
          <p:cNvSpPr/>
          <p:nvPr/>
        </p:nvSpPr>
        <p:spPr>
          <a:xfrm>
            <a:off x="571320" y="1468080"/>
            <a:ext cx="423324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4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333f70"/>
                </a:solidFill>
                <a:effectLst/>
                <a:uFillTx/>
                <a:latin typeface="Open Sans"/>
                <a:ea typeface="Open Sans"/>
              </a:rPr>
              <a:t>~19,000 records: General-purpose attack techniques.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6"/>
          <p:cNvSpPr/>
          <p:nvPr/>
        </p:nvSpPr>
        <p:spPr>
          <a:xfrm>
            <a:off x="5046840" y="1094040"/>
            <a:ext cx="4536360" cy="683280"/>
          </a:xfrm>
          <a:prstGeom prst="roundRect">
            <a:avLst>
              <a:gd name="adj" fmla="val 10698"/>
            </a:avLst>
          </a:prstGeom>
          <a:solidFill>
            <a:srgbClr val="ffffff"/>
          </a:solidFill>
          <a:ln w="15240">
            <a:solidFill>
              <a:srgbClr val="bcdb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7"/>
          <p:cNvSpPr/>
          <p:nvPr/>
        </p:nvSpPr>
        <p:spPr>
          <a:xfrm>
            <a:off x="5031720" y="1094040"/>
            <a:ext cx="60480" cy="683280"/>
          </a:xfrm>
          <a:prstGeom prst="roundRect">
            <a:avLst>
              <a:gd name="adj" fmla="val 78139"/>
            </a:avLst>
          </a:prstGeom>
          <a:solidFill>
            <a:srgbClr val="26a6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8"/>
          <p:cNvSpPr/>
          <p:nvPr/>
        </p:nvSpPr>
        <p:spPr>
          <a:xfrm>
            <a:off x="5221080" y="1222920"/>
            <a:ext cx="1417320" cy="17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349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333f70"/>
                </a:solidFill>
                <a:effectLst/>
                <a:uFillTx/>
                <a:latin typeface="Unbounded Bold"/>
                <a:ea typeface="Unbounded Bold"/>
              </a:rPr>
              <a:t>Exploits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9"/>
          <p:cNvSpPr/>
          <p:nvPr/>
        </p:nvSpPr>
        <p:spPr>
          <a:xfrm>
            <a:off x="5221080" y="1468080"/>
            <a:ext cx="423324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4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333f70"/>
                </a:solidFill>
                <a:effectLst/>
                <a:uFillTx/>
                <a:latin typeface="Open Sans"/>
                <a:ea typeface="Open Sans"/>
              </a:rPr>
              <a:t>~11,000 records: Taking advantage of vulnerabilities.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10"/>
          <p:cNvSpPr/>
          <p:nvPr/>
        </p:nvSpPr>
        <p:spPr>
          <a:xfrm>
            <a:off x="9696960" y="1094040"/>
            <a:ext cx="4536360" cy="683280"/>
          </a:xfrm>
          <a:prstGeom prst="roundRect">
            <a:avLst>
              <a:gd name="adj" fmla="val 10698"/>
            </a:avLst>
          </a:prstGeom>
          <a:solidFill>
            <a:srgbClr val="ffffff"/>
          </a:solidFill>
          <a:ln w="15240">
            <a:solidFill>
              <a:srgbClr val="bcdb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11"/>
          <p:cNvSpPr/>
          <p:nvPr/>
        </p:nvSpPr>
        <p:spPr>
          <a:xfrm>
            <a:off x="9681480" y="1094040"/>
            <a:ext cx="60480" cy="683280"/>
          </a:xfrm>
          <a:prstGeom prst="roundRect">
            <a:avLst>
              <a:gd name="adj" fmla="val 78139"/>
            </a:avLst>
          </a:prstGeom>
          <a:solidFill>
            <a:srgbClr val="26a6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12"/>
          <p:cNvSpPr/>
          <p:nvPr/>
        </p:nvSpPr>
        <p:spPr>
          <a:xfrm>
            <a:off x="9871200" y="1222920"/>
            <a:ext cx="1417320" cy="17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349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333f70"/>
                </a:solidFill>
                <a:effectLst/>
                <a:uFillTx/>
                <a:latin typeface="Unbounded Bold"/>
                <a:ea typeface="Unbounded Bold"/>
              </a:rPr>
              <a:t>Fuzzers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13"/>
          <p:cNvSpPr/>
          <p:nvPr/>
        </p:nvSpPr>
        <p:spPr>
          <a:xfrm>
            <a:off x="9871200" y="1468080"/>
            <a:ext cx="423324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4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333f70"/>
                </a:solidFill>
                <a:effectLst/>
                <a:uFillTx/>
                <a:latin typeface="Open Sans"/>
                <a:ea typeface="Open Sans"/>
              </a:rPr>
              <a:t>~6,000 records: Automated testing for weaknesses.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14"/>
          <p:cNvSpPr/>
          <p:nvPr/>
        </p:nvSpPr>
        <p:spPr>
          <a:xfrm>
            <a:off x="396720" y="1891440"/>
            <a:ext cx="4536360" cy="683280"/>
          </a:xfrm>
          <a:prstGeom prst="roundRect">
            <a:avLst>
              <a:gd name="adj" fmla="val 10698"/>
            </a:avLst>
          </a:prstGeom>
          <a:solidFill>
            <a:srgbClr val="ffffff"/>
          </a:solidFill>
          <a:ln w="15240">
            <a:solidFill>
              <a:srgbClr val="bcdb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15"/>
          <p:cNvSpPr/>
          <p:nvPr/>
        </p:nvSpPr>
        <p:spPr>
          <a:xfrm>
            <a:off x="381600" y="1891440"/>
            <a:ext cx="60480" cy="683280"/>
          </a:xfrm>
          <a:prstGeom prst="roundRect">
            <a:avLst>
              <a:gd name="adj" fmla="val 78139"/>
            </a:avLst>
          </a:prstGeom>
          <a:solidFill>
            <a:srgbClr val="26a6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16"/>
          <p:cNvSpPr/>
          <p:nvPr/>
        </p:nvSpPr>
        <p:spPr>
          <a:xfrm>
            <a:off x="571320" y="2019960"/>
            <a:ext cx="1417320" cy="17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349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333f70"/>
                </a:solidFill>
                <a:effectLst/>
                <a:uFillTx/>
                <a:latin typeface="Unbounded Bold"/>
                <a:ea typeface="Unbounded Bold"/>
              </a:rPr>
              <a:t>DoS Attacks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17"/>
          <p:cNvSpPr/>
          <p:nvPr/>
        </p:nvSpPr>
        <p:spPr>
          <a:xfrm>
            <a:off x="571320" y="2265120"/>
            <a:ext cx="423324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4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333f70"/>
                </a:solidFill>
                <a:effectLst/>
                <a:uFillTx/>
                <a:latin typeface="Open Sans"/>
                <a:ea typeface="Open Sans"/>
              </a:rPr>
              <a:t>~4,000 records: Overwhelming system resources.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18"/>
          <p:cNvSpPr/>
          <p:nvPr/>
        </p:nvSpPr>
        <p:spPr>
          <a:xfrm>
            <a:off x="5046840" y="1891440"/>
            <a:ext cx="4536360" cy="683280"/>
          </a:xfrm>
          <a:prstGeom prst="roundRect">
            <a:avLst>
              <a:gd name="adj" fmla="val 10698"/>
            </a:avLst>
          </a:prstGeom>
          <a:solidFill>
            <a:srgbClr val="ffffff"/>
          </a:solidFill>
          <a:ln w="15240">
            <a:solidFill>
              <a:srgbClr val="bcdb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19"/>
          <p:cNvSpPr/>
          <p:nvPr/>
        </p:nvSpPr>
        <p:spPr>
          <a:xfrm>
            <a:off x="5031720" y="1891440"/>
            <a:ext cx="60480" cy="683280"/>
          </a:xfrm>
          <a:prstGeom prst="roundRect">
            <a:avLst>
              <a:gd name="adj" fmla="val 78139"/>
            </a:avLst>
          </a:prstGeom>
          <a:solidFill>
            <a:srgbClr val="26a6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20"/>
          <p:cNvSpPr/>
          <p:nvPr/>
        </p:nvSpPr>
        <p:spPr>
          <a:xfrm>
            <a:off x="5221080" y="2019960"/>
            <a:ext cx="1477800" cy="17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349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333f70"/>
                </a:solidFill>
                <a:effectLst/>
                <a:uFillTx/>
                <a:latin typeface="Unbounded Bold"/>
                <a:ea typeface="Unbounded Bold"/>
              </a:rPr>
              <a:t>Reconnaissance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21"/>
          <p:cNvSpPr/>
          <p:nvPr/>
        </p:nvSpPr>
        <p:spPr>
          <a:xfrm>
            <a:off x="5221080" y="2265120"/>
            <a:ext cx="423324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4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333f70"/>
                </a:solidFill>
                <a:effectLst/>
                <a:uFillTx/>
                <a:latin typeface="Open Sans"/>
                <a:ea typeface="Open Sans"/>
              </a:rPr>
              <a:t>~3,500 records: Information gathering activities.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5" name="" descr=""/>
          <p:cNvPicPr/>
          <p:nvPr/>
        </p:nvPicPr>
        <p:blipFill>
          <a:blip r:embed="rId1"/>
          <a:stretch/>
        </p:blipFill>
        <p:spPr>
          <a:xfrm>
            <a:off x="410040" y="3200400"/>
            <a:ext cx="9419760" cy="465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ext 0"/>
          <p:cNvSpPr/>
          <p:nvPr/>
        </p:nvSpPr>
        <p:spPr>
          <a:xfrm>
            <a:off x="396720" y="311760"/>
            <a:ext cx="452592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333f70"/>
                </a:solidFill>
                <a:effectLst/>
                <a:uFillTx/>
                <a:latin typeface="Unbounded Bold"/>
                <a:ea typeface="Unbounded Bold"/>
              </a:rPr>
              <a:t>Network Traffic Patterns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1"/>
          <p:cNvSpPr/>
          <p:nvPr/>
        </p:nvSpPr>
        <p:spPr>
          <a:xfrm>
            <a:off x="396720" y="711360"/>
            <a:ext cx="4270320" cy="21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65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333f70"/>
                </a:solidFill>
                <a:effectLst/>
                <a:uFillTx/>
                <a:latin typeface="Unbounded Bold"/>
                <a:ea typeface="Unbounded Bold"/>
              </a:rPr>
              <a:t>Understanding Packet Rate Distribution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8" name="Image 0" descr="preencoded.png"/>
          <p:cNvPicPr/>
          <p:nvPr/>
        </p:nvPicPr>
        <p:blipFill>
          <a:blip r:embed="rId1"/>
          <a:stretch/>
        </p:blipFill>
        <p:spPr>
          <a:xfrm>
            <a:off x="396720" y="1094040"/>
            <a:ext cx="273960" cy="258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9" name="Text 2"/>
          <p:cNvSpPr/>
          <p:nvPr/>
        </p:nvSpPr>
        <p:spPr>
          <a:xfrm>
            <a:off x="625320" y="7134120"/>
            <a:ext cx="16606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349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333f70"/>
                </a:solidFill>
                <a:effectLst/>
                <a:uFillTx/>
                <a:latin typeface="Unbounded Bold"/>
                <a:ea typeface="Unbounded Bold"/>
              </a:rPr>
              <a:t>Key Observations: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3"/>
          <p:cNvSpPr/>
          <p:nvPr/>
        </p:nvSpPr>
        <p:spPr>
          <a:xfrm>
            <a:off x="685800" y="7543800"/>
            <a:ext cx="777240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4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333f70"/>
                </a:solidFill>
                <a:effectLst/>
                <a:uFillTx/>
                <a:latin typeface="Open Sans"/>
                <a:ea typeface="Open Sans"/>
              </a:rPr>
              <a:t>Most network traffic operates at very low packet rates, clustering near zero.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4"/>
          <p:cNvSpPr/>
          <p:nvPr/>
        </p:nvSpPr>
        <p:spPr>
          <a:xfrm>
            <a:off x="396720" y="8260920"/>
            <a:ext cx="6395400" cy="141480"/>
          </a:xfrm>
          <a:prstGeom prst="roundRect">
            <a:avLst>
              <a:gd name="adj" fmla="val 33620"/>
            </a:avLst>
          </a:prstGeom>
          <a:solidFill>
            <a:srgbClr val="d6f5ee"/>
          </a:solidFill>
          <a:ln w="7620">
            <a:solidFill>
              <a:srgbClr val="bcdb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5"/>
          <p:cNvSpPr/>
          <p:nvPr/>
        </p:nvSpPr>
        <p:spPr>
          <a:xfrm>
            <a:off x="396720" y="8260920"/>
            <a:ext cx="3133440" cy="141480"/>
          </a:xfrm>
          <a:prstGeom prst="roundRect">
            <a:avLst>
              <a:gd name="adj" fmla="val 33620"/>
            </a:avLst>
          </a:prstGeom>
          <a:solidFill>
            <a:srgbClr val="26a6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6"/>
          <p:cNvSpPr/>
          <p:nvPr/>
        </p:nvSpPr>
        <p:spPr>
          <a:xfrm>
            <a:off x="6877800" y="8260920"/>
            <a:ext cx="366480" cy="14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1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333f70"/>
                </a:solidFill>
                <a:effectLst/>
                <a:uFillTx/>
                <a:latin typeface="Unbounded Bold"/>
                <a:ea typeface="Unbounded Bold"/>
              </a:rPr>
              <a:t>49K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7"/>
          <p:cNvSpPr/>
          <p:nvPr/>
        </p:nvSpPr>
        <p:spPr>
          <a:xfrm>
            <a:off x="396720" y="8544240"/>
            <a:ext cx="1417320" cy="17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349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333f70"/>
                </a:solidFill>
                <a:effectLst/>
                <a:uFillTx/>
                <a:latin typeface="Unbounded Bold"/>
                <a:ea typeface="Unbounded Bold"/>
              </a:rPr>
              <a:t>Very Low Rates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8"/>
          <p:cNvSpPr/>
          <p:nvPr/>
        </p:nvSpPr>
        <p:spPr>
          <a:xfrm>
            <a:off x="7386120" y="8260920"/>
            <a:ext cx="6446160" cy="141480"/>
          </a:xfrm>
          <a:prstGeom prst="roundRect">
            <a:avLst>
              <a:gd name="adj" fmla="val 33620"/>
            </a:avLst>
          </a:prstGeom>
          <a:solidFill>
            <a:srgbClr val="d6f5ee"/>
          </a:solidFill>
          <a:ln w="7620">
            <a:solidFill>
              <a:srgbClr val="bcdb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9"/>
          <p:cNvSpPr/>
          <p:nvPr/>
        </p:nvSpPr>
        <p:spPr>
          <a:xfrm>
            <a:off x="7386120" y="8260920"/>
            <a:ext cx="837720" cy="141480"/>
          </a:xfrm>
          <a:prstGeom prst="roundRect">
            <a:avLst>
              <a:gd name="adj" fmla="val 33620"/>
            </a:avLst>
          </a:prstGeom>
          <a:solidFill>
            <a:srgbClr val="26a6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10"/>
          <p:cNvSpPr/>
          <p:nvPr/>
        </p:nvSpPr>
        <p:spPr>
          <a:xfrm>
            <a:off x="13917600" y="8260920"/>
            <a:ext cx="315360" cy="14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1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333f70"/>
                </a:solidFill>
                <a:effectLst/>
                <a:uFillTx/>
                <a:latin typeface="Unbounded Bold"/>
                <a:ea typeface="Unbounded Bold"/>
              </a:rPr>
              <a:t>13K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11"/>
          <p:cNvSpPr/>
          <p:nvPr/>
        </p:nvSpPr>
        <p:spPr>
          <a:xfrm>
            <a:off x="7386120" y="8544240"/>
            <a:ext cx="1417320" cy="17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349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333f70"/>
                </a:solidFill>
                <a:effectLst/>
                <a:uFillTx/>
                <a:latin typeface="Unbounded Bold"/>
                <a:ea typeface="Unbounded Bold"/>
              </a:rPr>
              <a:t>Low Rates (0.1)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12"/>
          <p:cNvSpPr/>
          <p:nvPr/>
        </p:nvSpPr>
        <p:spPr>
          <a:xfrm>
            <a:off x="396720" y="9005040"/>
            <a:ext cx="6524640" cy="141480"/>
          </a:xfrm>
          <a:prstGeom prst="roundRect">
            <a:avLst>
              <a:gd name="adj" fmla="val 33620"/>
            </a:avLst>
          </a:prstGeom>
          <a:solidFill>
            <a:srgbClr val="d6f5ee"/>
          </a:solidFill>
          <a:ln w="7620">
            <a:solidFill>
              <a:srgbClr val="bcdb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13"/>
          <p:cNvSpPr/>
          <p:nvPr/>
        </p:nvSpPr>
        <p:spPr>
          <a:xfrm>
            <a:off x="396720" y="9005040"/>
            <a:ext cx="325800" cy="141480"/>
          </a:xfrm>
          <a:prstGeom prst="roundRect">
            <a:avLst>
              <a:gd name="adj" fmla="val 33620"/>
            </a:avLst>
          </a:prstGeom>
          <a:solidFill>
            <a:srgbClr val="26a6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14"/>
          <p:cNvSpPr/>
          <p:nvPr/>
        </p:nvSpPr>
        <p:spPr>
          <a:xfrm>
            <a:off x="7006680" y="9005040"/>
            <a:ext cx="237240" cy="14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1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333f70"/>
                </a:solidFill>
                <a:effectLst/>
                <a:uFillTx/>
                <a:latin typeface="Unbounded Bold"/>
                <a:ea typeface="Unbounded Bold"/>
              </a:rPr>
              <a:t>5K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15"/>
          <p:cNvSpPr/>
          <p:nvPr/>
        </p:nvSpPr>
        <p:spPr>
          <a:xfrm>
            <a:off x="396720" y="9288360"/>
            <a:ext cx="1417320" cy="17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349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333f70"/>
                </a:solidFill>
                <a:effectLst/>
                <a:uFillTx/>
                <a:latin typeface="Unbounded Bold"/>
                <a:ea typeface="Unbounded Bold"/>
              </a:rPr>
              <a:t>Medium Rates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16"/>
          <p:cNvSpPr/>
          <p:nvPr/>
        </p:nvSpPr>
        <p:spPr>
          <a:xfrm>
            <a:off x="7386120" y="9005040"/>
            <a:ext cx="6564960" cy="141480"/>
          </a:xfrm>
          <a:prstGeom prst="roundRect">
            <a:avLst>
              <a:gd name="adj" fmla="val 33620"/>
            </a:avLst>
          </a:prstGeom>
          <a:solidFill>
            <a:srgbClr val="d6f5ee"/>
          </a:solidFill>
          <a:ln w="7620">
            <a:solidFill>
              <a:srgbClr val="bcdb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17"/>
          <p:cNvSpPr/>
          <p:nvPr/>
        </p:nvSpPr>
        <p:spPr>
          <a:xfrm>
            <a:off x="7386120" y="9005040"/>
            <a:ext cx="65160" cy="141480"/>
          </a:xfrm>
          <a:prstGeom prst="roundRect">
            <a:avLst>
              <a:gd name="adj" fmla="val 72609"/>
            </a:avLst>
          </a:prstGeom>
          <a:solidFill>
            <a:srgbClr val="26a6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18"/>
          <p:cNvSpPr/>
          <p:nvPr/>
        </p:nvSpPr>
        <p:spPr>
          <a:xfrm>
            <a:off x="14036400" y="9005040"/>
            <a:ext cx="196560" cy="14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1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333f70"/>
                </a:solidFill>
                <a:effectLst/>
                <a:uFillTx/>
                <a:latin typeface="Unbounded Bold"/>
                <a:ea typeface="Unbounded Bold"/>
              </a:rPr>
              <a:t>1K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19"/>
          <p:cNvSpPr/>
          <p:nvPr/>
        </p:nvSpPr>
        <p:spPr>
          <a:xfrm>
            <a:off x="7386120" y="9288360"/>
            <a:ext cx="1447560" cy="17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349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333f70"/>
                </a:solidFill>
                <a:effectLst/>
                <a:uFillTx/>
                <a:latin typeface="Unbounded Bold"/>
                <a:ea typeface="Unbounded Bold"/>
              </a:rPr>
              <a:t>High Rates (1M+)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7" name="" descr=""/>
          <p:cNvPicPr/>
          <p:nvPr/>
        </p:nvPicPr>
        <p:blipFill>
          <a:blip r:embed="rId2"/>
          <a:stretch/>
        </p:blipFill>
        <p:spPr>
          <a:xfrm>
            <a:off x="1813680" y="1143000"/>
            <a:ext cx="9159120" cy="6012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ext 0"/>
          <p:cNvSpPr/>
          <p:nvPr/>
        </p:nvSpPr>
        <p:spPr>
          <a:xfrm>
            <a:off x="3886200" y="228600"/>
            <a:ext cx="496800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333f70"/>
                </a:solidFill>
                <a:effectLst/>
                <a:uFillTx/>
                <a:latin typeface="Unbounded Bold"/>
                <a:ea typeface="Unbounded Bold"/>
              </a:rPr>
              <a:t>Connection Characteristics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1"/>
          <p:cNvSpPr/>
          <p:nvPr/>
        </p:nvSpPr>
        <p:spPr>
          <a:xfrm>
            <a:off x="685800" y="930600"/>
            <a:ext cx="3604680" cy="21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65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333f70"/>
                </a:solidFill>
                <a:effectLst/>
                <a:uFillTx/>
                <a:latin typeface="Unbounded Bold"/>
                <a:ea typeface="Unbounded Bold"/>
              </a:rPr>
              <a:t>Duration vs Data Volume Analysis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2"/>
          <p:cNvSpPr/>
          <p:nvPr/>
        </p:nvSpPr>
        <p:spPr>
          <a:xfrm>
            <a:off x="685800" y="1652040"/>
            <a:ext cx="1677600" cy="17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349"/>
              </a:lnSpc>
              <a:tabLst>
                <a:tab algn="l" pos="0"/>
              </a:tabLst>
            </a:pPr>
            <a:r>
              <a:rPr b="1" lang="en-US" sz="2100" strike="noStrike" u="none">
                <a:solidFill>
                  <a:srgbClr val="333f70"/>
                </a:solidFill>
                <a:effectLst/>
                <a:uFillTx/>
                <a:latin typeface="Unbounded Bold"/>
                <a:ea typeface="Unbounded Bold"/>
              </a:rPr>
              <a:t>Short Connections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3"/>
          <p:cNvSpPr/>
          <p:nvPr/>
        </p:nvSpPr>
        <p:spPr>
          <a:xfrm>
            <a:off x="571680" y="2008800"/>
            <a:ext cx="403632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marL="343080" indent="-343080">
              <a:lnSpc>
                <a:spcPts val="1400"/>
              </a:lnSpc>
              <a:buClr>
                <a:srgbClr val="333f70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333f70"/>
                </a:solidFill>
                <a:effectLst/>
                <a:uFillTx/>
                <a:latin typeface="Open Sans"/>
                <a:ea typeface="Open Sans"/>
              </a:rPr>
              <a:t>Most connections are brief, with low data transfer.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4"/>
          <p:cNvSpPr/>
          <p:nvPr/>
        </p:nvSpPr>
        <p:spPr>
          <a:xfrm>
            <a:off x="565200" y="2428920"/>
            <a:ext cx="403632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marL="343080" indent="-343080">
              <a:lnSpc>
                <a:spcPts val="1400"/>
              </a:lnSpc>
              <a:buClr>
                <a:srgbClr val="333f70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333f70"/>
                </a:solidFill>
                <a:effectLst/>
                <a:uFillTx/>
                <a:latin typeface="Open Sans"/>
                <a:ea typeface="Open Sans"/>
              </a:rPr>
              <a:t>Typical of normal browsing and reconnaissance attacks.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5"/>
          <p:cNvSpPr/>
          <p:nvPr/>
        </p:nvSpPr>
        <p:spPr>
          <a:xfrm>
            <a:off x="7265880" y="1600200"/>
            <a:ext cx="416412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349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333f70"/>
                </a:solidFill>
                <a:effectLst/>
                <a:uFillTx/>
                <a:latin typeface="Unbounded Bold"/>
                <a:ea typeface="Unbounded Bold"/>
              </a:rPr>
              <a:t>Long Connections (Suspicious)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6"/>
          <p:cNvSpPr/>
          <p:nvPr/>
        </p:nvSpPr>
        <p:spPr>
          <a:xfrm>
            <a:off x="7116480" y="2057400"/>
            <a:ext cx="403632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marL="343080" indent="-343080">
              <a:lnSpc>
                <a:spcPts val="1400"/>
              </a:lnSpc>
              <a:buClr>
                <a:srgbClr val="333f70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333f70"/>
                </a:solidFill>
                <a:effectLst/>
                <a:uFillTx/>
                <a:latin typeface="Open Sans"/>
                <a:ea typeface="Open Sans"/>
              </a:rPr>
              <a:t>Duration: 40-60+ seconds, high data volume.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7"/>
          <p:cNvSpPr/>
          <p:nvPr/>
        </p:nvSpPr>
        <p:spPr>
          <a:xfrm>
            <a:off x="7086600" y="2514600"/>
            <a:ext cx="403632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marL="343080" indent="-343080">
              <a:lnSpc>
                <a:spcPts val="1400"/>
              </a:lnSpc>
              <a:buClr>
                <a:srgbClr val="333f70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333f70"/>
                </a:solidFill>
                <a:effectLst/>
                <a:uFillTx/>
                <a:latin typeface="Open Sans"/>
                <a:ea typeface="Open Sans"/>
              </a:rPr>
              <a:t>Potential data exfiltration or ongoing attacks.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6" name="" descr=""/>
          <p:cNvPicPr/>
          <p:nvPr/>
        </p:nvPicPr>
        <p:blipFill>
          <a:blip r:embed="rId1"/>
          <a:stretch/>
        </p:blipFill>
        <p:spPr>
          <a:xfrm>
            <a:off x="685800" y="3429000"/>
            <a:ext cx="7088040" cy="4800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ext 0"/>
          <p:cNvSpPr/>
          <p:nvPr/>
        </p:nvSpPr>
        <p:spPr>
          <a:xfrm>
            <a:off x="5883120" y="311760"/>
            <a:ext cx="438300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rgbClr val="333f70"/>
                </a:solidFill>
                <a:effectLst/>
                <a:uFillTx/>
                <a:latin typeface="Unbounded Bold"/>
                <a:ea typeface="Unbounded Bold"/>
              </a:rPr>
              <a:t>Service-Specific Threats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1"/>
          <p:cNvSpPr/>
          <p:nvPr/>
        </p:nvSpPr>
        <p:spPr>
          <a:xfrm>
            <a:off x="5943600" y="930600"/>
            <a:ext cx="3810960" cy="21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65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333f70"/>
                </a:solidFill>
                <a:effectLst/>
                <a:uFillTx/>
                <a:latin typeface="Unbounded Bold"/>
                <a:ea typeface="Unbounded Bold"/>
              </a:rPr>
              <a:t>Which Services Are Most Targeted?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2"/>
          <p:cNvSpPr/>
          <p:nvPr/>
        </p:nvSpPr>
        <p:spPr>
          <a:xfrm>
            <a:off x="5883120" y="12026880"/>
            <a:ext cx="8349840" cy="683280"/>
          </a:xfrm>
          <a:prstGeom prst="roundRect">
            <a:avLst>
              <a:gd name="adj" fmla="val 6966"/>
            </a:avLst>
          </a:prstGeom>
          <a:solidFill>
            <a:srgbClr val="ffffff"/>
          </a:solidFill>
          <a:ln w="15240">
            <a:solidFill>
              <a:srgbClr val="bcdb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3"/>
          <p:cNvSpPr/>
          <p:nvPr/>
        </p:nvSpPr>
        <p:spPr>
          <a:xfrm>
            <a:off x="5898600" y="12042360"/>
            <a:ext cx="453240" cy="653040"/>
          </a:xfrm>
          <a:prstGeom prst="roundRect">
            <a:avLst>
              <a:gd name="adj" fmla="val 6469"/>
            </a:avLst>
          </a:prstGeom>
          <a:solidFill>
            <a:srgbClr val="d6f5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4"/>
          <p:cNvSpPr/>
          <p:nvPr/>
        </p:nvSpPr>
        <p:spPr>
          <a:xfrm>
            <a:off x="6036480" y="12262320"/>
            <a:ext cx="169560" cy="21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301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333f70"/>
                </a:solidFill>
                <a:effectLst/>
                <a:uFillTx/>
                <a:latin typeface="Unbounded Bold"/>
                <a:ea typeface="Unbounded Bold"/>
              </a:rPr>
              <a:t>1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5"/>
          <p:cNvSpPr/>
          <p:nvPr/>
        </p:nvSpPr>
        <p:spPr>
          <a:xfrm>
            <a:off x="6465600" y="12155400"/>
            <a:ext cx="1417320" cy="17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349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333f70"/>
                </a:solidFill>
                <a:effectLst/>
                <a:uFillTx/>
                <a:latin typeface="Unbounded Bold"/>
                <a:ea typeface="Unbounded Bold"/>
              </a:rPr>
              <a:t>SSH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6"/>
          <p:cNvSpPr/>
          <p:nvPr/>
        </p:nvSpPr>
        <p:spPr>
          <a:xfrm>
            <a:off x="6465600" y="12400560"/>
            <a:ext cx="763920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4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333f70"/>
                </a:solidFill>
                <a:effectLst/>
                <a:uFillTx/>
                <a:latin typeface="Open Sans"/>
                <a:ea typeface="Open Sans"/>
              </a:rPr>
              <a:t>98% "Normal" classification, heavily targeted but well-defended.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7"/>
          <p:cNvSpPr/>
          <p:nvPr/>
        </p:nvSpPr>
        <p:spPr>
          <a:xfrm>
            <a:off x="5883120" y="12824280"/>
            <a:ext cx="8349840" cy="683280"/>
          </a:xfrm>
          <a:prstGeom prst="roundRect">
            <a:avLst>
              <a:gd name="adj" fmla="val 6966"/>
            </a:avLst>
          </a:prstGeom>
          <a:solidFill>
            <a:srgbClr val="ffffff"/>
          </a:solidFill>
          <a:ln w="15240">
            <a:solidFill>
              <a:srgbClr val="bcdb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8"/>
          <p:cNvSpPr/>
          <p:nvPr/>
        </p:nvSpPr>
        <p:spPr>
          <a:xfrm>
            <a:off x="5898600" y="12839400"/>
            <a:ext cx="453240" cy="653040"/>
          </a:xfrm>
          <a:prstGeom prst="roundRect">
            <a:avLst>
              <a:gd name="adj" fmla="val 6469"/>
            </a:avLst>
          </a:prstGeom>
          <a:solidFill>
            <a:srgbClr val="d6f5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9"/>
          <p:cNvSpPr/>
          <p:nvPr/>
        </p:nvSpPr>
        <p:spPr>
          <a:xfrm>
            <a:off x="6036480" y="13059720"/>
            <a:ext cx="169560" cy="21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301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333f70"/>
                </a:solidFill>
                <a:effectLst/>
                <a:uFillTx/>
                <a:latin typeface="Unbounded Bold"/>
                <a:ea typeface="Unbounded Bold"/>
              </a:rPr>
              <a:t>2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10"/>
          <p:cNvSpPr/>
          <p:nvPr/>
        </p:nvSpPr>
        <p:spPr>
          <a:xfrm>
            <a:off x="6465600" y="12952800"/>
            <a:ext cx="1417320" cy="17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349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333f70"/>
                </a:solidFill>
                <a:effectLst/>
                <a:uFillTx/>
                <a:latin typeface="Unbounded Bold"/>
                <a:ea typeface="Unbounded Bold"/>
              </a:rPr>
              <a:t>POP3 (Email)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11"/>
          <p:cNvSpPr/>
          <p:nvPr/>
        </p:nvSpPr>
        <p:spPr>
          <a:xfrm>
            <a:off x="6465600" y="13197960"/>
            <a:ext cx="763920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4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333f70"/>
                </a:solidFill>
                <a:effectLst/>
                <a:uFillTx/>
                <a:latin typeface="Open Sans"/>
                <a:ea typeface="Open Sans"/>
              </a:rPr>
              <a:t>94% Exploits, primary target for exploitation.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12"/>
          <p:cNvSpPr/>
          <p:nvPr/>
        </p:nvSpPr>
        <p:spPr>
          <a:xfrm>
            <a:off x="5883120" y="13621320"/>
            <a:ext cx="8349840" cy="683280"/>
          </a:xfrm>
          <a:prstGeom prst="roundRect">
            <a:avLst>
              <a:gd name="adj" fmla="val 6966"/>
            </a:avLst>
          </a:prstGeom>
          <a:solidFill>
            <a:srgbClr val="ffffff"/>
          </a:solidFill>
          <a:ln w="15240">
            <a:solidFill>
              <a:srgbClr val="bcdb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13"/>
          <p:cNvSpPr/>
          <p:nvPr/>
        </p:nvSpPr>
        <p:spPr>
          <a:xfrm>
            <a:off x="5898600" y="13636440"/>
            <a:ext cx="453240" cy="653040"/>
          </a:xfrm>
          <a:prstGeom prst="roundRect">
            <a:avLst>
              <a:gd name="adj" fmla="val 6469"/>
            </a:avLst>
          </a:prstGeom>
          <a:solidFill>
            <a:srgbClr val="d6f5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14"/>
          <p:cNvSpPr/>
          <p:nvPr/>
        </p:nvSpPr>
        <p:spPr>
          <a:xfrm>
            <a:off x="6036480" y="13856760"/>
            <a:ext cx="169560" cy="21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301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333f70"/>
                </a:solidFill>
                <a:effectLst/>
                <a:uFillTx/>
                <a:latin typeface="Unbounded Bold"/>
                <a:ea typeface="Unbounded Bold"/>
              </a:rPr>
              <a:t>3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15"/>
          <p:cNvSpPr/>
          <p:nvPr/>
        </p:nvSpPr>
        <p:spPr>
          <a:xfrm>
            <a:off x="6465600" y="13749840"/>
            <a:ext cx="1417320" cy="17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349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333f70"/>
                </a:solidFill>
                <a:effectLst/>
                <a:uFillTx/>
                <a:latin typeface="Unbounded Bold"/>
                <a:ea typeface="Unbounded Bold"/>
              </a:rPr>
              <a:t>DNS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16"/>
          <p:cNvSpPr/>
          <p:nvPr/>
        </p:nvSpPr>
        <p:spPr>
          <a:xfrm>
            <a:off x="6465600" y="13995000"/>
            <a:ext cx="763920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4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333f70"/>
                </a:solidFill>
                <a:effectLst/>
                <a:uFillTx/>
                <a:latin typeface="Open Sans"/>
                <a:ea typeface="Open Sans"/>
              </a:rPr>
              <a:t>85% Generic attacks, high rates of general attacks.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4" name="" descr=""/>
          <p:cNvPicPr/>
          <p:nvPr/>
        </p:nvPicPr>
        <p:blipFill>
          <a:blip r:embed="rId1"/>
          <a:stretch/>
        </p:blipFill>
        <p:spPr>
          <a:xfrm>
            <a:off x="0" y="0"/>
            <a:ext cx="4628880" cy="8229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5" name="" descr=""/>
          <p:cNvPicPr/>
          <p:nvPr/>
        </p:nvPicPr>
        <p:blipFill>
          <a:blip r:embed="rId2"/>
          <a:stretch/>
        </p:blipFill>
        <p:spPr>
          <a:xfrm>
            <a:off x="5715000" y="1672200"/>
            <a:ext cx="8263440" cy="6435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Text 0"/>
          <p:cNvSpPr/>
          <p:nvPr/>
        </p:nvSpPr>
        <p:spPr>
          <a:xfrm>
            <a:off x="793800" y="957240"/>
            <a:ext cx="7556040" cy="14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5550"/>
              </a:lnSpc>
              <a:tabLst>
                <a:tab algn="l" pos="0"/>
              </a:tabLst>
            </a:pPr>
            <a:r>
              <a:rPr b="1" lang="en-US" sz="4450" strike="noStrike" u="none">
                <a:solidFill>
                  <a:srgbClr val="333f70"/>
                </a:solidFill>
                <a:effectLst/>
                <a:uFillTx/>
                <a:latin typeface="Unbounded Bold"/>
                <a:ea typeface="Unbounded Bold"/>
              </a:rPr>
              <a:t>Service-Specific Threats (Continued)</a:t>
            </a:r>
            <a:endParaRPr b="0" lang="en-US" sz="4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Shape 1"/>
          <p:cNvSpPr/>
          <p:nvPr/>
        </p:nvSpPr>
        <p:spPr>
          <a:xfrm>
            <a:off x="793800" y="2715120"/>
            <a:ext cx="7556040" cy="1367640"/>
          </a:xfrm>
          <a:prstGeom prst="roundRect">
            <a:avLst>
              <a:gd name="adj" fmla="val 6964"/>
            </a:avLst>
          </a:prstGeom>
          <a:solidFill>
            <a:srgbClr val="ffffff"/>
          </a:solidFill>
          <a:ln w="30480">
            <a:solidFill>
              <a:srgbClr val="bcdb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2"/>
          <p:cNvSpPr/>
          <p:nvPr/>
        </p:nvSpPr>
        <p:spPr>
          <a:xfrm>
            <a:off x="824400" y="2745360"/>
            <a:ext cx="906840" cy="1306440"/>
          </a:xfrm>
          <a:prstGeom prst="roundRect">
            <a:avLst>
              <a:gd name="adj" fmla="val 6469"/>
            </a:avLst>
          </a:prstGeom>
          <a:solidFill>
            <a:srgbClr val="d6f5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3"/>
          <p:cNvSpPr/>
          <p:nvPr/>
        </p:nvSpPr>
        <p:spPr>
          <a:xfrm>
            <a:off x="1104120" y="3186360"/>
            <a:ext cx="33984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650"/>
              </a:lnSpc>
              <a:tabLst>
                <a:tab algn="l" pos="0"/>
              </a:tabLst>
            </a:pPr>
            <a:r>
              <a:rPr b="1" lang="en-US" sz="2650" strike="noStrike" u="none">
                <a:solidFill>
                  <a:srgbClr val="333f70"/>
                </a:solidFill>
                <a:effectLst/>
                <a:uFillTx/>
                <a:latin typeface="Unbounded Bold"/>
                <a:ea typeface="Unbounded Bold"/>
              </a:rPr>
              <a:t>1</a:t>
            </a:r>
            <a:endParaRPr b="0" lang="en-US" sz="2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4"/>
          <p:cNvSpPr/>
          <p:nvPr/>
        </p:nvSpPr>
        <p:spPr>
          <a:xfrm>
            <a:off x="1958400" y="2972160"/>
            <a:ext cx="283500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333f70"/>
                </a:solidFill>
                <a:effectLst/>
                <a:uFillTx/>
                <a:latin typeface="Unbounded Bold"/>
                <a:ea typeface="Unbounded Bold"/>
              </a:rPr>
              <a:t>SNMP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5"/>
          <p:cNvSpPr/>
          <p:nvPr/>
        </p:nvSpPr>
        <p:spPr>
          <a:xfrm>
            <a:off x="1958400" y="3462840"/>
            <a:ext cx="613404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r>
              <a:rPr b="0" lang="en-US" sz="1750" strike="noStrike" u="none">
                <a:solidFill>
                  <a:srgbClr val="333f70"/>
                </a:solidFill>
                <a:effectLst/>
                <a:uFillTx/>
                <a:latin typeface="Open Sans"/>
                <a:ea typeface="Open Sans"/>
              </a:rPr>
              <a:t>69% Reconnaissance, probed for network information.</a:t>
            </a:r>
            <a:endParaRPr b="0" lang="en-US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6"/>
          <p:cNvSpPr/>
          <p:nvPr/>
        </p:nvSpPr>
        <p:spPr>
          <a:xfrm>
            <a:off x="793800" y="4309560"/>
            <a:ext cx="7556040" cy="1367640"/>
          </a:xfrm>
          <a:prstGeom prst="roundRect">
            <a:avLst>
              <a:gd name="adj" fmla="val 6964"/>
            </a:avLst>
          </a:prstGeom>
          <a:solidFill>
            <a:srgbClr val="ffffff"/>
          </a:solidFill>
          <a:ln w="30480">
            <a:solidFill>
              <a:srgbClr val="bcdb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7"/>
          <p:cNvSpPr/>
          <p:nvPr/>
        </p:nvSpPr>
        <p:spPr>
          <a:xfrm>
            <a:off x="824400" y="4340160"/>
            <a:ext cx="906840" cy="1306440"/>
          </a:xfrm>
          <a:prstGeom prst="roundRect">
            <a:avLst>
              <a:gd name="adj" fmla="val 6469"/>
            </a:avLst>
          </a:prstGeom>
          <a:solidFill>
            <a:srgbClr val="d6f5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8"/>
          <p:cNvSpPr/>
          <p:nvPr/>
        </p:nvSpPr>
        <p:spPr>
          <a:xfrm>
            <a:off x="1104120" y="4780800"/>
            <a:ext cx="33984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650"/>
              </a:lnSpc>
              <a:tabLst>
                <a:tab algn="l" pos="0"/>
              </a:tabLst>
            </a:pPr>
            <a:r>
              <a:rPr b="1" lang="en-US" sz="2650" strike="noStrike" u="none">
                <a:solidFill>
                  <a:srgbClr val="333f70"/>
                </a:solidFill>
                <a:effectLst/>
                <a:uFillTx/>
                <a:latin typeface="Unbounded Bold"/>
                <a:ea typeface="Unbounded Bold"/>
              </a:rPr>
              <a:t>2</a:t>
            </a:r>
            <a:endParaRPr b="0" lang="en-US" sz="2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9"/>
          <p:cNvSpPr/>
          <p:nvPr/>
        </p:nvSpPr>
        <p:spPr>
          <a:xfrm>
            <a:off x="1958400" y="4566960"/>
            <a:ext cx="283500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333f70"/>
                </a:solidFill>
                <a:effectLst/>
                <a:uFillTx/>
                <a:latin typeface="Unbounded Bold"/>
                <a:ea typeface="Unbounded Bold"/>
              </a:rPr>
              <a:t>IRC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10"/>
          <p:cNvSpPr/>
          <p:nvPr/>
        </p:nvSpPr>
        <p:spPr>
          <a:xfrm>
            <a:off x="1958400" y="5057280"/>
            <a:ext cx="613404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r>
              <a:rPr b="0" lang="en-US" sz="1750" strike="noStrike" u="none">
                <a:solidFill>
                  <a:srgbClr val="333f70"/>
                </a:solidFill>
                <a:effectLst/>
                <a:uFillTx/>
                <a:latin typeface="Open Sans"/>
                <a:ea typeface="Open Sans"/>
              </a:rPr>
              <a:t>60% DoS attacks, chat services disrupted.</a:t>
            </a:r>
            <a:endParaRPr b="0" lang="en-US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11"/>
          <p:cNvSpPr/>
          <p:nvPr/>
        </p:nvSpPr>
        <p:spPr>
          <a:xfrm>
            <a:off x="793800" y="5904360"/>
            <a:ext cx="7556040" cy="1367640"/>
          </a:xfrm>
          <a:prstGeom prst="roundRect">
            <a:avLst>
              <a:gd name="adj" fmla="val 6964"/>
            </a:avLst>
          </a:prstGeom>
          <a:solidFill>
            <a:srgbClr val="ffffff"/>
          </a:solidFill>
          <a:ln w="30480">
            <a:solidFill>
              <a:srgbClr val="bcdb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12"/>
          <p:cNvSpPr/>
          <p:nvPr/>
        </p:nvSpPr>
        <p:spPr>
          <a:xfrm>
            <a:off x="824400" y="5934960"/>
            <a:ext cx="906840" cy="1306440"/>
          </a:xfrm>
          <a:prstGeom prst="roundRect">
            <a:avLst>
              <a:gd name="adj" fmla="val 6469"/>
            </a:avLst>
          </a:prstGeom>
          <a:solidFill>
            <a:srgbClr val="d6f5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13"/>
          <p:cNvSpPr/>
          <p:nvPr/>
        </p:nvSpPr>
        <p:spPr>
          <a:xfrm>
            <a:off x="1104120" y="6375600"/>
            <a:ext cx="33984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650"/>
              </a:lnSpc>
              <a:tabLst>
                <a:tab algn="l" pos="0"/>
              </a:tabLst>
            </a:pPr>
            <a:r>
              <a:rPr b="1" lang="en-US" sz="2650" strike="noStrike" u="none">
                <a:solidFill>
                  <a:srgbClr val="333f70"/>
                </a:solidFill>
                <a:effectLst/>
                <a:uFillTx/>
                <a:latin typeface="Unbounded Bold"/>
                <a:ea typeface="Unbounded Bold"/>
              </a:rPr>
              <a:t>3</a:t>
            </a:r>
            <a:endParaRPr b="0" lang="en-US" sz="2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14"/>
          <p:cNvSpPr/>
          <p:nvPr/>
        </p:nvSpPr>
        <p:spPr>
          <a:xfrm>
            <a:off x="1958400" y="6161760"/>
            <a:ext cx="283500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333f70"/>
                </a:solidFill>
                <a:effectLst/>
                <a:uFillTx/>
                <a:latin typeface="Unbounded Bold"/>
                <a:ea typeface="Unbounded Bold"/>
              </a:rPr>
              <a:t>FTP/HTTP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15"/>
          <p:cNvSpPr/>
          <p:nvPr/>
        </p:nvSpPr>
        <p:spPr>
          <a:xfrm>
            <a:off x="1958400" y="6652080"/>
            <a:ext cx="613404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r>
              <a:rPr b="0" lang="en-US" sz="1750" strike="noStrike" u="none">
                <a:solidFill>
                  <a:srgbClr val="333f70"/>
                </a:solidFill>
                <a:effectLst/>
                <a:uFillTx/>
                <a:latin typeface="Open Sans"/>
                <a:ea typeface="Open Sans"/>
              </a:rPr>
              <a:t>Mixed patterns, indicating varied attack vectors.</a:t>
            </a:r>
            <a:endParaRPr b="0" lang="en-US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2" name="" descr=""/>
          <p:cNvPicPr/>
          <p:nvPr/>
        </p:nvPicPr>
        <p:blipFill>
          <a:blip r:embed="rId1"/>
          <a:stretch/>
        </p:blipFill>
        <p:spPr>
          <a:xfrm>
            <a:off x="8394840" y="228600"/>
            <a:ext cx="5778360" cy="8001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Text 0"/>
          <p:cNvSpPr/>
          <p:nvPr/>
        </p:nvSpPr>
        <p:spPr>
          <a:xfrm>
            <a:off x="793800" y="1077120"/>
            <a:ext cx="5670360" cy="70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5550"/>
              </a:lnSpc>
              <a:tabLst>
                <a:tab algn="l" pos="0"/>
              </a:tabLst>
            </a:pPr>
            <a:r>
              <a:rPr b="1" lang="en-US" sz="4450" strike="noStrike" u="none">
                <a:solidFill>
                  <a:srgbClr val="333f70"/>
                </a:solidFill>
                <a:effectLst/>
                <a:uFillTx/>
                <a:latin typeface="Unbounded Bold"/>
                <a:ea typeface="Unbounded Bold"/>
              </a:rPr>
              <a:t>Key Takeaways</a:t>
            </a:r>
            <a:endParaRPr b="0" lang="en-US" sz="4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1"/>
          <p:cNvSpPr/>
          <p:nvPr/>
        </p:nvSpPr>
        <p:spPr>
          <a:xfrm>
            <a:off x="793800" y="1876680"/>
            <a:ext cx="726840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3300"/>
              </a:lnSpc>
              <a:tabLst>
                <a:tab algn="l" pos="0"/>
              </a:tabLst>
            </a:pPr>
            <a:r>
              <a:rPr b="1" lang="en-US" sz="2650" strike="noStrike" u="none">
                <a:solidFill>
                  <a:srgbClr val="333f70"/>
                </a:solidFill>
                <a:effectLst/>
                <a:uFillTx/>
                <a:latin typeface="Unbounded Bold"/>
                <a:ea typeface="Unbounded Bold"/>
              </a:rPr>
              <a:t>Critical Insights from the Analysis</a:t>
            </a:r>
            <a:endParaRPr b="0" lang="en-US" sz="2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2"/>
          <p:cNvSpPr/>
          <p:nvPr/>
        </p:nvSpPr>
        <p:spPr>
          <a:xfrm>
            <a:off x="793800" y="2642040"/>
            <a:ext cx="510120" cy="510120"/>
          </a:xfrm>
          <a:prstGeom prst="roundRect">
            <a:avLst>
              <a:gd name="adj" fmla="val 18669"/>
            </a:avLst>
          </a:prstGeom>
          <a:solidFill>
            <a:srgbClr val="d6f5ee"/>
          </a:solidFill>
          <a:ln w="7620">
            <a:solidFill>
              <a:srgbClr val="bcdb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3"/>
          <p:cNvSpPr/>
          <p:nvPr/>
        </p:nvSpPr>
        <p:spPr>
          <a:xfrm>
            <a:off x="878760" y="2684520"/>
            <a:ext cx="33984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ts val="2650"/>
              </a:lnSpc>
              <a:tabLst>
                <a:tab algn="l" pos="0"/>
              </a:tabLst>
            </a:pPr>
            <a:r>
              <a:rPr b="1" lang="en-US" sz="2650" strike="noStrike" u="none">
                <a:solidFill>
                  <a:srgbClr val="333f70"/>
                </a:solidFill>
                <a:effectLst/>
                <a:uFillTx/>
                <a:latin typeface="Unbounded Bold"/>
                <a:ea typeface="Unbounded Bold"/>
              </a:rPr>
              <a:t>1</a:t>
            </a:r>
            <a:endParaRPr b="0" lang="en-US" sz="2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4"/>
          <p:cNvSpPr/>
          <p:nvPr/>
        </p:nvSpPr>
        <p:spPr>
          <a:xfrm>
            <a:off x="1531080" y="2720160"/>
            <a:ext cx="458460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333f70"/>
                </a:solidFill>
                <a:effectLst/>
                <a:uFillTx/>
                <a:latin typeface="Unbounded Bold"/>
                <a:ea typeface="Unbounded Bold"/>
              </a:rPr>
              <a:t>Attack Traffic Dominates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5"/>
          <p:cNvSpPr/>
          <p:nvPr/>
        </p:nvSpPr>
        <p:spPr>
          <a:xfrm>
            <a:off x="1531080" y="3210480"/>
            <a:ext cx="5642280" cy="72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r>
              <a:rPr b="0" lang="en-US" sz="1750" strike="noStrike" u="none">
                <a:solidFill>
                  <a:srgbClr val="333f70"/>
                </a:solidFill>
                <a:effectLst/>
                <a:uFillTx/>
                <a:latin typeface="Open Sans"/>
                <a:ea typeface="Open Sans"/>
              </a:rPr>
              <a:t>55% malicious traffic means robust security is non-negotiable.</a:t>
            </a:r>
            <a:endParaRPr b="0" lang="en-US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6"/>
          <p:cNvSpPr/>
          <p:nvPr/>
        </p:nvSpPr>
        <p:spPr>
          <a:xfrm>
            <a:off x="7457040" y="2642040"/>
            <a:ext cx="510120" cy="510120"/>
          </a:xfrm>
          <a:prstGeom prst="roundRect">
            <a:avLst>
              <a:gd name="adj" fmla="val 18669"/>
            </a:avLst>
          </a:prstGeom>
          <a:solidFill>
            <a:srgbClr val="d6f5ee"/>
          </a:solidFill>
          <a:ln w="7620">
            <a:solidFill>
              <a:srgbClr val="bcdb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7"/>
          <p:cNvSpPr/>
          <p:nvPr/>
        </p:nvSpPr>
        <p:spPr>
          <a:xfrm>
            <a:off x="7542000" y="2684520"/>
            <a:ext cx="33984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ts val="2650"/>
              </a:lnSpc>
              <a:tabLst>
                <a:tab algn="l" pos="0"/>
              </a:tabLst>
            </a:pPr>
            <a:r>
              <a:rPr b="1" lang="en-US" sz="2650" strike="noStrike" u="none">
                <a:solidFill>
                  <a:srgbClr val="333f70"/>
                </a:solidFill>
                <a:effectLst/>
                <a:uFillTx/>
                <a:latin typeface="Unbounded Bold"/>
                <a:ea typeface="Unbounded Bold"/>
              </a:rPr>
              <a:t>2</a:t>
            </a:r>
            <a:endParaRPr b="0" lang="en-US" sz="2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8"/>
          <p:cNvSpPr/>
          <p:nvPr/>
        </p:nvSpPr>
        <p:spPr>
          <a:xfrm>
            <a:off x="8193960" y="2720160"/>
            <a:ext cx="472536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333f70"/>
                </a:solidFill>
                <a:effectLst/>
                <a:uFillTx/>
                <a:latin typeface="Unbounded Bold"/>
                <a:ea typeface="Unbounded Bold"/>
              </a:rPr>
              <a:t>Diverse Attack Landscape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9"/>
          <p:cNvSpPr/>
          <p:nvPr/>
        </p:nvSpPr>
        <p:spPr>
          <a:xfrm>
            <a:off x="8193960" y="3210480"/>
            <a:ext cx="5642280" cy="72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r>
              <a:rPr b="0" lang="en-US" sz="1750" strike="noStrike" u="none">
                <a:solidFill>
                  <a:srgbClr val="333f70"/>
                </a:solidFill>
                <a:effectLst/>
                <a:uFillTx/>
                <a:latin typeface="Open Sans"/>
                <a:ea typeface="Open Sans"/>
              </a:rPr>
              <a:t>Organizations face multiple threat vectors simultaneously.</a:t>
            </a:r>
            <a:endParaRPr b="0" lang="en-US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10"/>
          <p:cNvSpPr/>
          <p:nvPr/>
        </p:nvSpPr>
        <p:spPr>
          <a:xfrm>
            <a:off x="793800" y="4389840"/>
            <a:ext cx="510120" cy="510120"/>
          </a:xfrm>
          <a:prstGeom prst="roundRect">
            <a:avLst>
              <a:gd name="adj" fmla="val 18669"/>
            </a:avLst>
          </a:prstGeom>
          <a:solidFill>
            <a:srgbClr val="d6f5ee"/>
          </a:solidFill>
          <a:ln w="7620">
            <a:solidFill>
              <a:srgbClr val="bcdb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11"/>
          <p:cNvSpPr/>
          <p:nvPr/>
        </p:nvSpPr>
        <p:spPr>
          <a:xfrm>
            <a:off x="878760" y="4432320"/>
            <a:ext cx="33984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ts val="2650"/>
              </a:lnSpc>
              <a:tabLst>
                <a:tab algn="l" pos="0"/>
              </a:tabLst>
            </a:pPr>
            <a:r>
              <a:rPr b="1" lang="en-US" sz="2650" strike="noStrike" u="none">
                <a:solidFill>
                  <a:srgbClr val="333f70"/>
                </a:solidFill>
                <a:effectLst/>
                <a:uFillTx/>
                <a:latin typeface="Unbounded Bold"/>
                <a:ea typeface="Unbounded Bold"/>
              </a:rPr>
              <a:t>3</a:t>
            </a:r>
            <a:endParaRPr b="0" lang="en-US" sz="2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12"/>
          <p:cNvSpPr/>
          <p:nvPr/>
        </p:nvSpPr>
        <p:spPr>
          <a:xfrm>
            <a:off x="1531080" y="4467600"/>
            <a:ext cx="551052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333f70"/>
                </a:solidFill>
                <a:effectLst/>
                <a:uFillTx/>
                <a:latin typeface="Unbounded Bold"/>
                <a:ea typeface="Unbounded Bold"/>
              </a:rPr>
              <a:t>Service-Specific Vulnerabilities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13"/>
          <p:cNvSpPr/>
          <p:nvPr/>
        </p:nvSpPr>
        <p:spPr>
          <a:xfrm>
            <a:off x="1531080" y="4958280"/>
            <a:ext cx="564228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r>
              <a:rPr b="0" lang="en-US" sz="1750" strike="noStrike" u="none">
                <a:solidFill>
                  <a:srgbClr val="333f70"/>
                </a:solidFill>
                <a:effectLst/>
                <a:uFillTx/>
                <a:latin typeface="Open Sans"/>
                <a:ea typeface="Open Sans"/>
              </a:rPr>
              <a:t>Security must be tailored to different services.</a:t>
            </a:r>
            <a:endParaRPr b="0" lang="en-US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14"/>
          <p:cNvSpPr/>
          <p:nvPr/>
        </p:nvSpPr>
        <p:spPr>
          <a:xfrm>
            <a:off x="7457040" y="4389840"/>
            <a:ext cx="510120" cy="510120"/>
          </a:xfrm>
          <a:prstGeom prst="roundRect">
            <a:avLst>
              <a:gd name="adj" fmla="val 18669"/>
            </a:avLst>
          </a:prstGeom>
          <a:solidFill>
            <a:srgbClr val="d6f5ee"/>
          </a:solidFill>
          <a:ln w="7620">
            <a:solidFill>
              <a:srgbClr val="bcdb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15"/>
          <p:cNvSpPr/>
          <p:nvPr/>
        </p:nvSpPr>
        <p:spPr>
          <a:xfrm>
            <a:off x="7542000" y="4432320"/>
            <a:ext cx="33984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ts val="2650"/>
              </a:lnSpc>
              <a:tabLst>
                <a:tab algn="l" pos="0"/>
              </a:tabLst>
            </a:pPr>
            <a:r>
              <a:rPr b="1" lang="en-US" sz="2650" strike="noStrike" u="none">
                <a:solidFill>
                  <a:srgbClr val="333f70"/>
                </a:solidFill>
                <a:effectLst/>
                <a:uFillTx/>
                <a:latin typeface="Unbounded Bold"/>
                <a:ea typeface="Unbounded Bold"/>
              </a:rPr>
              <a:t>4</a:t>
            </a:r>
            <a:endParaRPr b="0" lang="en-US" sz="2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16"/>
          <p:cNvSpPr/>
          <p:nvPr/>
        </p:nvSpPr>
        <p:spPr>
          <a:xfrm>
            <a:off x="8193960" y="4467600"/>
            <a:ext cx="468144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333f70"/>
                </a:solidFill>
                <a:effectLst/>
                <a:uFillTx/>
                <a:latin typeface="Unbounded Bold"/>
                <a:ea typeface="Unbounded Bold"/>
              </a:rPr>
              <a:t>Pattern Recognition is Key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17"/>
          <p:cNvSpPr/>
          <p:nvPr/>
        </p:nvSpPr>
        <p:spPr>
          <a:xfrm>
            <a:off x="8193960" y="4958280"/>
            <a:ext cx="5642280" cy="72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r>
              <a:rPr b="0" lang="en-US" sz="1750" strike="noStrike" u="none">
                <a:solidFill>
                  <a:srgbClr val="333f70"/>
                </a:solidFill>
                <a:effectLst/>
                <a:uFillTx/>
                <a:latin typeface="Open Sans"/>
                <a:ea typeface="Open Sans"/>
              </a:rPr>
              <a:t>Unusual connection patterns indicate malicious activity.</a:t>
            </a:r>
            <a:endParaRPr b="0" lang="en-US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18"/>
          <p:cNvSpPr/>
          <p:nvPr/>
        </p:nvSpPr>
        <p:spPr>
          <a:xfrm>
            <a:off x="793800" y="6024240"/>
            <a:ext cx="340200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3300"/>
              </a:lnSpc>
              <a:tabLst>
                <a:tab algn="l" pos="0"/>
              </a:tabLst>
            </a:pPr>
            <a:r>
              <a:rPr b="1" lang="en-US" sz="2650" strike="noStrike" u="none">
                <a:solidFill>
                  <a:srgbClr val="333f70"/>
                </a:solidFill>
                <a:effectLst/>
                <a:uFillTx/>
                <a:latin typeface="Unbounded Bold"/>
                <a:ea typeface="Unbounded Bold"/>
              </a:rPr>
              <a:t>Bottom Line</a:t>
            </a:r>
            <a:endParaRPr b="0" lang="en-US" sz="2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19"/>
          <p:cNvSpPr/>
          <p:nvPr/>
        </p:nvSpPr>
        <p:spPr>
          <a:xfrm>
            <a:off x="793800" y="6789600"/>
            <a:ext cx="1304244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r>
              <a:rPr b="0" lang="en-US" sz="1750" strike="noStrike" u="none">
                <a:solidFill>
                  <a:srgbClr val="333f70"/>
                </a:solidFill>
                <a:effectLst/>
                <a:uFillTx/>
                <a:latin typeface="Open Sans"/>
                <a:ea typeface="Open Sans"/>
              </a:rPr>
              <a:t>Cybersecurity requires constant vigilance, multi-layered defenses, and proactive monitoring.</a:t>
            </a:r>
            <a:endParaRPr b="0" lang="en-US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Text 0"/>
          <p:cNvSpPr/>
          <p:nvPr/>
        </p:nvSpPr>
        <p:spPr>
          <a:xfrm>
            <a:off x="3429000" y="225000"/>
            <a:ext cx="4402800" cy="46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3600"/>
              </a:lnSpc>
              <a:tabLst>
                <a:tab algn="l" pos="0"/>
              </a:tabLst>
            </a:pPr>
            <a:r>
              <a:rPr b="1" lang="en-US" sz="2900" strike="noStrike" u="none">
                <a:solidFill>
                  <a:srgbClr val="333f70"/>
                </a:solidFill>
                <a:effectLst/>
                <a:uFillTx/>
                <a:latin typeface="Unbounded Bold"/>
                <a:ea typeface="Unbounded Bold"/>
              </a:rPr>
              <a:t>Recommendations</a:t>
            </a:r>
            <a:endParaRPr b="0" lang="en-US" sz="2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1"/>
          <p:cNvSpPr/>
          <p:nvPr/>
        </p:nvSpPr>
        <p:spPr>
          <a:xfrm>
            <a:off x="815400" y="925920"/>
            <a:ext cx="5814000" cy="27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149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333f70"/>
                </a:solidFill>
                <a:effectLst/>
                <a:uFillTx/>
                <a:latin typeface="Unbounded Bold"/>
                <a:ea typeface="Unbounded Bold"/>
              </a:rPr>
              <a:t>Actionable Steps to Protect Your Network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2"/>
          <p:cNvSpPr/>
          <p:nvPr/>
        </p:nvSpPr>
        <p:spPr>
          <a:xfrm>
            <a:off x="663840" y="1645200"/>
            <a:ext cx="147240" cy="663480"/>
          </a:xfrm>
          <a:prstGeom prst="roundRect">
            <a:avLst>
              <a:gd name="adj" fmla="val 42019"/>
            </a:avLst>
          </a:prstGeom>
          <a:solidFill>
            <a:srgbClr val="d6f5ee"/>
          </a:solidFill>
          <a:ln w="7620">
            <a:solidFill>
              <a:srgbClr val="bcdb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Shape 3"/>
          <p:cNvSpPr/>
          <p:nvPr/>
        </p:nvSpPr>
        <p:spPr>
          <a:xfrm>
            <a:off x="516600" y="1548000"/>
            <a:ext cx="442440" cy="442440"/>
          </a:xfrm>
          <a:prstGeom prst="roundRect">
            <a:avLst>
              <a:gd name="adj" fmla="val 103281"/>
            </a:avLst>
          </a:prstGeom>
          <a:solidFill>
            <a:srgbClr val="d6f5ee"/>
          </a:solidFill>
          <a:ln w="7620">
            <a:solidFill>
              <a:srgbClr val="bcdb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7" name="Image 0" descr="preencoded.png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627120" y="1658880"/>
            <a:ext cx="221040" cy="221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8" name="Text 4"/>
          <p:cNvSpPr/>
          <p:nvPr/>
        </p:nvSpPr>
        <p:spPr>
          <a:xfrm>
            <a:off x="1106640" y="1571400"/>
            <a:ext cx="3934080" cy="23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800"/>
              </a:lnSpc>
              <a:tabLst>
                <a:tab algn="l" pos="0"/>
              </a:tabLst>
            </a:pPr>
            <a:r>
              <a:rPr b="1" lang="en-US" sz="1450" strike="noStrike" u="none">
                <a:solidFill>
                  <a:srgbClr val="333f70"/>
                </a:solidFill>
                <a:effectLst/>
                <a:uFillTx/>
                <a:latin typeface="Unbounded Bold"/>
                <a:ea typeface="Unbounded Bold"/>
              </a:rPr>
              <a:t>Implement Multi-Layered Security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5"/>
          <p:cNvSpPr/>
          <p:nvPr/>
        </p:nvSpPr>
        <p:spPr>
          <a:xfrm>
            <a:off x="1106640" y="1890360"/>
            <a:ext cx="13006800" cy="2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851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333f70"/>
                </a:solidFill>
                <a:effectLst/>
                <a:uFillTx/>
                <a:latin typeface="Open Sans"/>
                <a:ea typeface="Open Sans"/>
              </a:rPr>
              <a:t>Deploy firewalls, IDS/IPS, and endpoint protection across all segments.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Shape 6"/>
          <p:cNvSpPr/>
          <p:nvPr/>
        </p:nvSpPr>
        <p:spPr>
          <a:xfrm>
            <a:off x="885240" y="2678040"/>
            <a:ext cx="147240" cy="663480"/>
          </a:xfrm>
          <a:prstGeom prst="roundRect">
            <a:avLst>
              <a:gd name="adj" fmla="val 42019"/>
            </a:avLst>
          </a:prstGeom>
          <a:solidFill>
            <a:srgbClr val="d6f5ee"/>
          </a:solidFill>
          <a:ln w="7620">
            <a:solidFill>
              <a:srgbClr val="bcdb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7"/>
          <p:cNvSpPr/>
          <p:nvPr/>
        </p:nvSpPr>
        <p:spPr>
          <a:xfrm>
            <a:off x="738000" y="2581200"/>
            <a:ext cx="442440" cy="442440"/>
          </a:xfrm>
          <a:prstGeom prst="roundRect">
            <a:avLst>
              <a:gd name="adj" fmla="val 103281"/>
            </a:avLst>
          </a:prstGeom>
          <a:solidFill>
            <a:srgbClr val="d6f5ee"/>
          </a:solidFill>
          <a:ln w="7620">
            <a:solidFill>
              <a:srgbClr val="bcdb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2" name="Image 1" descr="preencoded.png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848520" y="2691720"/>
            <a:ext cx="221040" cy="221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3" name="Text 8"/>
          <p:cNvSpPr/>
          <p:nvPr/>
        </p:nvSpPr>
        <p:spPr>
          <a:xfrm>
            <a:off x="1328040" y="2604240"/>
            <a:ext cx="3366360" cy="23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800"/>
              </a:lnSpc>
              <a:tabLst>
                <a:tab algn="l" pos="0"/>
              </a:tabLst>
            </a:pPr>
            <a:r>
              <a:rPr b="1" lang="en-US" sz="1450" strike="noStrike" u="none">
                <a:solidFill>
                  <a:srgbClr val="333f70"/>
                </a:solidFill>
                <a:effectLst/>
                <a:uFillTx/>
                <a:latin typeface="Unbounded Bold"/>
                <a:ea typeface="Unbounded Bold"/>
              </a:rPr>
              <a:t>Monitor Traffic Continuously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9"/>
          <p:cNvSpPr/>
          <p:nvPr/>
        </p:nvSpPr>
        <p:spPr>
          <a:xfrm>
            <a:off x="1328040" y="2923200"/>
            <a:ext cx="12785400" cy="2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851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333f70"/>
                </a:solidFill>
                <a:effectLst/>
                <a:uFillTx/>
                <a:latin typeface="Open Sans"/>
                <a:ea typeface="Open Sans"/>
              </a:rPr>
              <a:t>Set automated alerts for unusual packet rates and data transfer.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10"/>
          <p:cNvSpPr/>
          <p:nvPr/>
        </p:nvSpPr>
        <p:spPr>
          <a:xfrm>
            <a:off x="1106640" y="3710880"/>
            <a:ext cx="147240" cy="663480"/>
          </a:xfrm>
          <a:prstGeom prst="roundRect">
            <a:avLst>
              <a:gd name="adj" fmla="val 42019"/>
            </a:avLst>
          </a:prstGeom>
          <a:solidFill>
            <a:srgbClr val="d6f5ee"/>
          </a:solidFill>
          <a:ln w="7620">
            <a:solidFill>
              <a:srgbClr val="bcdb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Shape 11"/>
          <p:cNvSpPr/>
          <p:nvPr/>
        </p:nvSpPr>
        <p:spPr>
          <a:xfrm>
            <a:off x="959040" y="3614040"/>
            <a:ext cx="442440" cy="442440"/>
          </a:xfrm>
          <a:prstGeom prst="roundRect">
            <a:avLst>
              <a:gd name="adj" fmla="val 103281"/>
            </a:avLst>
          </a:prstGeom>
          <a:solidFill>
            <a:srgbClr val="d6f5ee"/>
          </a:solidFill>
          <a:ln w="7620">
            <a:solidFill>
              <a:srgbClr val="bcdb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7" name="Image 2" descr="preencoded.png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1069920" y="3724920"/>
            <a:ext cx="221040" cy="221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8" name="Text 12"/>
          <p:cNvSpPr/>
          <p:nvPr/>
        </p:nvSpPr>
        <p:spPr>
          <a:xfrm>
            <a:off x="1549440" y="3637080"/>
            <a:ext cx="2803680" cy="23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800"/>
              </a:lnSpc>
              <a:tabLst>
                <a:tab algn="l" pos="0"/>
              </a:tabLst>
            </a:pPr>
            <a:r>
              <a:rPr b="1" lang="en-US" sz="1450" strike="noStrike" u="none">
                <a:solidFill>
                  <a:srgbClr val="333f70"/>
                </a:solidFill>
                <a:effectLst/>
                <a:uFillTx/>
                <a:latin typeface="Unbounded Bold"/>
                <a:ea typeface="Unbounded Bold"/>
              </a:rPr>
              <a:t>Harden Critical Services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13"/>
          <p:cNvSpPr/>
          <p:nvPr/>
        </p:nvSpPr>
        <p:spPr>
          <a:xfrm>
            <a:off x="1549440" y="3956040"/>
            <a:ext cx="12564360" cy="2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851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333f70"/>
                </a:solidFill>
                <a:effectLst/>
                <a:uFillTx/>
                <a:latin typeface="Open Sans"/>
                <a:ea typeface="Open Sans"/>
              </a:rPr>
              <a:t>Enhance authentication for SSH, email, DNS, and web services.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Shape 14"/>
          <p:cNvSpPr/>
          <p:nvPr/>
        </p:nvSpPr>
        <p:spPr>
          <a:xfrm>
            <a:off x="1328040" y="4744080"/>
            <a:ext cx="147240" cy="663480"/>
          </a:xfrm>
          <a:prstGeom prst="roundRect">
            <a:avLst>
              <a:gd name="adj" fmla="val 42019"/>
            </a:avLst>
          </a:prstGeom>
          <a:solidFill>
            <a:srgbClr val="d6f5ee"/>
          </a:solidFill>
          <a:ln w="7620">
            <a:solidFill>
              <a:srgbClr val="bcdb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15"/>
          <p:cNvSpPr/>
          <p:nvPr/>
        </p:nvSpPr>
        <p:spPr>
          <a:xfrm>
            <a:off x="1180440" y="4647240"/>
            <a:ext cx="442440" cy="442440"/>
          </a:xfrm>
          <a:prstGeom prst="roundRect">
            <a:avLst>
              <a:gd name="adj" fmla="val 103281"/>
            </a:avLst>
          </a:prstGeom>
          <a:solidFill>
            <a:srgbClr val="d6f5ee"/>
          </a:solidFill>
          <a:ln w="7620">
            <a:solidFill>
              <a:srgbClr val="bcdb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2" name="Image 3" descr="preencoded.png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1290960" y="4757760"/>
            <a:ext cx="221040" cy="221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3" name="Text 16"/>
          <p:cNvSpPr/>
          <p:nvPr/>
        </p:nvSpPr>
        <p:spPr>
          <a:xfrm>
            <a:off x="1770840" y="4670280"/>
            <a:ext cx="2931840" cy="23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800"/>
              </a:lnSpc>
              <a:tabLst>
                <a:tab algn="l" pos="0"/>
              </a:tabLst>
            </a:pPr>
            <a:r>
              <a:rPr b="1" lang="en-US" sz="1450" strike="noStrike" u="none">
                <a:solidFill>
                  <a:srgbClr val="333f70"/>
                </a:solidFill>
                <a:effectLst/>
                <a:uFillTx/>
                <a:latin typeface="Unbounded Bold"/>
                <a:ea typeface="Unbounded Bold"/>
              </a:rPr>
              <a:t>Conduct Regular Training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17"/>
          <p:cNvSpPr/>
          <p:nvPr/>
        </p:nvSpPr>
        <p:spPr>
          <a:xfrm>
            <a:off x="1770840" y="4989240"/>
            <a:ext cx="12342960" cy="2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851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333f70"/>
                </a:solidFill>
                <a:effectLst/>
                <a:uFillTx/>
                <a:latin typeface="Open Sans"/>
                <a:ea typeface="Open Sans"/>
              </a:rPr>
              <a:t>Educate staff on evolving threats and security best practices.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Shape 18"/>
          <p:cNvSpPr/>
          <p:nvPr/>
        </p:nvSpPr>
        <p:spPr>
          <a:xfrm>
            <a:off x="1106640" y="5776920"/>
            <a:ext cx="147240" cy="663480"/>
          </a:xfrm>
          <a:prstGeom prst="roundRect">
            <a:avLst>
              <a:gd name="adj" fmla="val 42019"/>
            </a:avLst>
          </a:prstGeom>
          <a:solidFill>
            <a:srgbClr val="d6f5ee"/>
          </a:solidFill>
          <a:ln w="7620">
            <a:solidFill>
              <a:srgbClr val="bcdb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Shape 19"/>
          <p:cNvSpPr/>
          <p:nvPr/>
        </p:nvSpPr>
        <p:spPr>
          <a:xfrm>
            <a:off x="959040" y="5680080"/>
            <a:ext cx="442440" cy="442440"/>
          </a:xfrm>
          <a:prstGeom prst="roundRect">
            <a:avLst>
              <a:gd name="adj" fmla="val 103281"/>
            </a:avLst>
          </a:prstGeom>
          <a:solidFill>
            <a:srgbClr val="d6f5ee"/>
          </a:solidFill>
          <a:ln w="7620">
            <a:solidFill>
              <a:srgbClr val="bcdb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7" name="Image 4" descr="preencoded.png"/>
          <p:cNvPicPr/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>
          <a:xfrm>
            <a:off x="1069920" y="5790600"/>
            <a:ext cx="221040" cy="221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8" name="Text 20"/>
          <p:cNvSpPr/>
          <p:nvPr/>
        </p:nvSpPr>
        <p:spPr>
          <a:xfrm>
            <a:off x="1549440" y="5703120"/>
            <a:ext cx="3995640" cy="23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800"/>
              </a:lnSpc>
              <a:tabLst>
                <a:tab algn="l" pos="0"/>
              </a:tabLst>
            </a:pPr>
            <a:r>
              <a:rPr b="1" lang="en-US" sz="1450" strike="noStrike" u="none">
                <a:solidFill>
                  <a:srgbClr val="333f70"/>
                </a:solidFill>
                <a:effectLst/>
                <a:uFillTx/>
                <a:latin typeface="Unbounded Bold"/>
                <a:ea typeface="Unbounded Bold"/>
              </a:rPr>
              <a:t>Perform Continuous Assessments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21"/>
          <p:cNvSpPr/>
          <p:nvPr/>
        </p:nvSpPr>
        <p:spPr>
          <a:xfrm>
            <a:off x="1549440" y="6022080"/>
            <a:ext cx="12564360" cy="2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851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333f70"/>
                </a:solidFill>
                <a:effectLst/>
                <a:uFillTx/>
                <a:latin typeface="Open Sans"/>
                <a:ea typeface="Open Sans"/>
              </a:rPr>
              <a:t>Analyze traffic and conduct penetration testing to identify vulnerabilities.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0" name="" descr=""/>
          <p:cNvPicPr/>
          <p:nvPr/>
        </p:nvPicPr>
        <p:blipFill>
          <a:blip r:embed="rId11"/>
          <a:stretch/>
        </p:blipFill>
        <p:spPr>
          <a:xfrm>
            <a:off x="9073080" y="0"/>
            <a:ext cx="5136120" cy="8229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0"/>
          <p:cNvSpPr/>
          <p:nvPr/>
        </p:nvSpPr>
        <p:spPr>
          <a:xfrm>
            <a:off x="5073840" y="457200"/>
            <a:ext cx="5670360" cy="70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5550"/>
              </a:lnSpc>
              <a:tabLst>
                <a:tab algn="l" pos="0"/>
              </a:tabLst>
            </a:pPr>
            <a:r>
              <a:rPr b="1" lang="en-US" sz="4450" strike="noStrike" u="none">
                <a:solidFill>
                  <a:srgbClr val="333f70"/>
                </a:solidFill>
                <a:effectLst/>
                <a:uFillTx/>
                <a:latin typeface="Unbounded Bold"/>
                <a:ea typeface="Unbounded Bold"/>
              </a:rPr>
              <a:t>Thank You</a:t>
            </a:r>
            <a:endParaRPr b="0" lang="en-US" sz="4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2"/>
          <p:cNvSpPr/>
          <p:nvPr/>
        </p:nvSpPr>
        <p:spPr>
          <a:xfrm>
            <a:off x="1130760" y="6400800"/>
            <a:ext cx="1304244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r>
              <a:rPr b="0" lang="en-US" sz="1750" strike="noStrike" u="none">
                <a:solidFill>
                  <a:srgbClr val="333f70"/>
                </a:solidFill>
                <a:effectLst/>
                <a:uFillTx/>
                <a:latin typeface="Open Sans"/>
                <a:ea typeface="Open Sans"/>
              </a:rPr>
              <a:t>Cybersecurity is not optional—it's essential. Understanding attack patterns helps us build better defenses.</a:t>
            </a:r>
            <a:endParaRPr b="0" lang="en-US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3"/>
          <p:cNvSpPr/>
          <p:nvPr/>
        </p:nvSpPr>
        <p:spPr>
          <a:xfrm>
            <a:off x="793800" y="3761640"/>
            <a:ext cx="512424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33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4" name="Image 1" descr="preencoded.png"/>
          <p:cNvPicPr/>
          <p:nvPr/>
        </p:nvPicPr>
        <p:blipFill>
          <a:blip r:embed="rId1"/>
          <a:stretch/>
        </p:blipFill>
        <p:spPr>
          <a:xfrm>
            <a:off x="793800" y="6471720"/>
            <a:ext cx="174960" cy="220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5" name="Text 8"/>
          <p:cNvSpPr/>
          <p:nvPr/>
        </p:nvSpPr>
        <p:spPr>
          <a:xfrm>
            <a:off x="793800" y="6948000"/>
            <a:ext cx="1304244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6" name="" descr=""/>
          <p:cNvPicPr/>
          <p:nvPr/>
        </p:nvPicPr>
        <p:blipFill>
          <a:blip r:embed="rId2"/>
          <a:stretch/>
        </p:blipFill>
        <p:spPr>
          <a:xfrm>
            <a:off x="4451400" y="1628640"/>
            <a:ext cx="5829120" cy="3524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</TotalTime>
  <Application>LibreOffice/25.8.3.2$Linux_X86_64 LibreOffice_project/580$Build-2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2025-12-05T09:35:48Z</dcterms:created>
  <dc:creator/>
  <dc:description/>
  <dc:language>en-US</dc:language>
  <cp:lastModifiedBy/>
  <dcterms:modified xsi:type="dcterms:W3CDTF">2025-12-05T13:07:18Z</dcterms:modified>
  <cp:revision>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10</vt:i4>
  </property>
  <property fmtid="{D5CDD505-2E9C-101B-9397-08002B2CF9AE}" pid="3" name="PresentationFormat">
    <vt:lpwstr>On-screen Show (16:9)</vt:lpwstr>
  </property>
  <property fmtid="{D5CDD505-2E9C-101B-9397-08002B2CF9AE}" pid="4" name="Slides">
    <vt:i4>10</vt:i4>
  </property>
</Properties>
</file>